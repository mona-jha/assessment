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64008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0"/>
            <a:ext cx="2133295" cy="5120640"/>
          </a:xfrm>
          <a:prstGeom prst="rect">
            <a:avLst/>
          </a:prstGeom>
          <a:solidFill>
            <a:srgbClr val="1B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26D2C"/>
                </a:solidFill>
                <a:latin typeface="Calibri"/>
              </a:rPr>
              <a:t>DIGITAL PATHOLOGY  ·  H&amp;E HISTOPATHOLOGY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Nucleus Detection &amp;</a:t>
            </a:r>
          </a:p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Quantification 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F5F7FA"/>
                </a:solidFill>
                <a:latin typeface="Calibri"/>
              </a:rPr>
              <a:t>Three independent methods.  Five cancer cohorts.  Fifty images.  Zero ground-truth annotations.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Mona Kumari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7FA"/>
                </a:solidFill>
                <a:latin typeface="Calibri"/>
              </a:rPr>
              <a:t>Syngene / BBRC Digital Pathology Assessment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Agenda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What we will cover in the next ~10 minutes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640080" cy="64008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087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B3D5C"/>
                </a:solidFill>
                <a:latin typeface="Calibri"/>
              </a:rPr>
              <a:t>Problem &amp; dataset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C66"/>
                </a:solidFill>
                <a:latin typeface="Calibri"/>
              </a:rPr>
              <a:t>What we were asked to do; what the 50 images look like.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640080" cy="64008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B3D5C"/>
                </a:solidFill>
                <a:latin typeface="Calibri"/>
              </a:rPr>
              <a:t>Approach: three methods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C66"/>
                </a:solidFill>
                <a:latin typeface="Calibri"/>
              </a:rPr>
              <a:t>Why we run a classical pipeline alongside two deep-learning models.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640080" cy="64008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08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6324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B3D5C"/>
                </a:solidFill>
                <a:latin typeface="Calibri"/>
              </a:rPr>
              <a:t>Method walkthroughs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C66"/>
                </a:solidFill>
                <a:latin typeface="Calibri"/>
              </a:rPr>
              <a:t>Classical (HED + watershed), Cellpose v4, StarDist 2D_versatile_he.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86200"/>
            <a:ext cx="640080" cy="64008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404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B3D5C"/>
                </a:solidFill>
                <a:latin typeface="Calibri"/>
              </a:rPr>
              <a:t>Quantitative results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C66"/>
                </a:solidFill>
                <a:latin typeface="Calibri"/>
              </a:rPr>
              <a:t>Total counts, per-cohort morphometrics, cross-method agreement.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63440"/>
            <a:ext cx="640080" cy="64008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6177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B3D5C"/>
                </a:solidFill>
                <a:latin typeface="Calibri"/>
              </a:rPr>
              <a:t>Biological interpretation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C66"/>
                </a:solidFill>
                <a:latin typeface="Calibri"/>
              </a:rPr>
              <a:t>What the numbers tell us about each tumour type.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40679"/>
            <a:ext cx="640080" cy="64008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44067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394959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B3D5C"/>
                </a:solidFill>
                <a:latin typeface="Calibri"/>
              </a:rPr>
              <a:t>Limitations &amp; next steps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C66"/>
                </a:solidFill>
                <a:latin typeface="Calibri"/>
              </a:rPr>
              <a:t>What we cannot answer without ground truth, and how to fix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Problem statement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Detect every nucleus. Report counts and morphometrics.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9494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B33"/>
                </a:solidFill>
                <a:latin typeface="Calibri"/>
              </a:rPr>
              <a:t>We are given 50 H&amp;E-stained histopathology images covering five cancer cohorts (10 images each).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B33"/>
                </a:solidFill>
                <a:latin typeface="Calibri"/>
              </a:rPr>
              <a:t>The task is to segment EVERY nucleus, count them, and quantify their morphology -- area, eccentricity, solidity, density per megapixel.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E26D2C"/>
                </a:solidFill>
                <a:latin typeface="Calibri"/>
              </a:rPr>
              <a:t>Catch:  no manual annotations were provided.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B33"/>
                </a:solidFill>
                <a:latin typeface="Calibri"/>
              </a:rPr>
              <a:t>So we cannot compute precision / recall / F1 directly. We need a defensible substitute for accuracy.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B33"/>
                </a:solidFill>
                <a:latin typeface="Calibri"/>
              </a:rPr>
              <a:t>Solution: run THREE independent segmentation methods of different families and use their AGREEMENT as evidence of correctness.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463040"/>
            <a:ext cx="4023360" cy="41148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6992" y="1572768"/>
            <a:ext cx="37033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By the numbers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50 input images (5 cohorts × 10)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3 segmentation methods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~480 × 560 px each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~24,000 nuclei detected per method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0 ground-truth annotations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End-to-end pipeline: ~6 min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Hardware: MacBook Pro (Apple Silicon, MPS)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The dataset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Five cancer cohorts, ten images each, mixed tissue architectures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962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Cohort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Disease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Images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Visual cue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BRC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Breast carcinoma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Heterogeneous: glands, stroma, lymphocytes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CRC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Colorectal carcinoma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Glandular crypts; columnar epithelial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HCC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Hepatocellular carcinoma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Large hepatocytes; abundant cytoplasm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NSCLC_AD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Non-small-cell lung carcinoma — adenocarcinoma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Glandular pattern; cuboidal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NSCLC_SCC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Non-small-cell lung carcinoma — squamous cell carcinoma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Dense monomorphic squamous nests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114800"/>
            <a:ext cx="11064240" cy="2194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224528"/>
            <a:ext cx="10744200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Why this matters for segmentation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The five cohorts span a wide range of nucleus density, size, and shape.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Stain intensity also varies between images. A method that works on one cohort but breaks on another is not useful.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We deliberately use a SINGLE global parameter set across all cohorts -- any difference in counts is biology, not parameter cheating.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Approach: three methods, three families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Independent failure modes — agreement is meaningful.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Why include it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Classical (HED + watershed)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Image processing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Fully transparent. Every step inspectable. No training data.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Cellpose v4 (cpsam)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Generalist deep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Pretrained flow-based segmenter. Robust across tissue types.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StarDist (2D_versatile_he)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H&amp;E-specific deep learning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B33"/>
                          </a:solidFill>
                          <a:latin typeface="Calibri"/>
                        </a:rPr>
                        <a:t>Star-convex polygon prior. Trained specifically on H&amp;E nuclei.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069080"/>
            <a:ext cx="11064240" cy="6400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Key insight: when three orthogonal methods agree, the count is almost certainly correct.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26D2C"/>
                </a:solidFill>
                <a:latin typeface="Calibri"/>
              </a:rPr>
              <a:t>▍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Same Python interface: every method exposes segment(rgb) -&gt; uint32 instance map.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26D2C"/>
                </a:solidFill>
                <a:latin typeface="Calibri"/>
              </a:rPr>
              <a:t>▍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Same outputs per image: yellow-boundary overlay, instance mask, per-image stats CSV.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26D2C"/>
                </a:solidFill>
                <a:latin typeface="Calibri"/>
              </a:rPr>
              <a:t>▍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Same driver script: code/01_run_segmentation.py --method &lt;classical|cellpose|stardist&gt;.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26D2C"/>
                </a:solidFill>
                <a:latin typeface="Calibri"/>
              </a:rPr>
              <a:t>▍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Adding a fourth method is ~30 lines of code -- the architecture is plug-and-play.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6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280160"/>
            <a:ext cx="12191695" cy="42976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146304" cy="39319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26D2C"/>
                </a:solidFill>
                <a:latin typeface="Calibri"/>
              </a:rPr>
              <a:t>PART 1</a:t>
            </a:r>
          </a:p>
          <a:p>
            <a:pPr algn="l"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Methods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F5F7FA"/>
                </a:solidFill>
                <a:latin typeface="Calibri"/>
              </a:rPr>
              <a:t>How each of the three pipelines turns an RGB image into instance labels.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Macenko stain normalisation — evaluated &amp; rejected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Normalisation degraded results; un-normalised data used throughout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6858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41148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Without norm.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With norm.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Classical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24,250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15,497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−36%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Cellpose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24,097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24,194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+0.4%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StarDist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20,783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14,732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−29%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0" y="1463040"/>
            <a:ext cx="3931920" cy="1645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6992" y="1572768"/>
            <a:ext cx="36118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26D2C"/>
                </a:solidFill>
                <a:latin typeface="Calibri"/>
              </a:rPr>
              <a:t>What went wrong?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Reference image (BRC/Image1) too different from other cohorts.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Washed out tissue (bright px 6.8%→60.7%) or over-darkened.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IoU dropped from 0.51–0.67 → 0.13–0.44.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Real nuclei destroyed, not just false positives.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74720"/>
            <a:ext cx="3611880" cy="2560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584448"/>
            <a:ext cx="329184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Cellpose is stain-invariant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Count barely changes (+0.4%).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But per-image swings up to ±92%.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Generalist model tolerates stain variation — normalisation adds noise, not signal.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474720"/>
            <a:ext cx="3611880" cy="2560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3584448"/>
            <a:ext cx="329184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26D2C"/>
                </a:solidFill>
                <a:latin typeface="Calibri"/>
              </a:rPr>
              <a:t>Classical / StarDist destroyed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Classical BRC: 5,704 → 2,015 (−65%).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BRC/Image3: 1,084 → 59 nuclei (−95%).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StarDist uniform −29% across all cohorts.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Normalisation killed real detections.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474720"/>
            <a:ext cx="3611880" cy="2560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3584448"/>
            <a:ext cx="329184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Decision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All primary results use un-normalised input.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Normalised results preserved in results_norm/.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Code retained for future use with better reference.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Classical pipeline — step by step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Pure image processing. No learned weights. ~18 s for 50 images on CPU.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48640" cy="64008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26464"/>
            <a:ext cx="105156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Stain deconvolution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rgb2hed isolates the Hematoxylin channel — pixel intensity now means ‘amount of nucleus dye here’, free of pink eosin contamination.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21992"/>
            <a:ext cx="548640" cy="64008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2199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85416"/>
            <a:ext cx="105156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Contrast + smoothing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Robust [1%, 99%] percentile clip + Gaussian σ=1 — kills speckle, ignores stray bright artefacts.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80944"/>
            <a:ext cx="548640" cy="64008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80944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44368"/>
            <a:ext cx="105156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Otsu threshold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Picks the threshold that minimises within-class variance — the natural split between background and nuclei.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39896"/>
            <a:ext cx="548640" cy="64008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39896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03320"/>
            <a:ext cx="105156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Morphology cleanup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Opening (disk r=2) removes thin noise; hole-fill closes interior pinpricks; drop objects &lt; 30 px².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98848"/>
            <a:ext cx="548640" cy="64008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98848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462272"/>
            <a:ext cx="105156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Distance + watershed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Distance transform turns each nucleus into a ‘mountain’; peak_local_max finds centres; watershed splits touching nuclei.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57800"/>
            <a:ext cx="548640" cy="64008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5780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221224"/>
            <a:ext cx="105156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Region filter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Keep regions with area ∈ [30, 4000] px² and solidity ≥ 0.70 — rejects specks, vessels, jagged stromal artefacts.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Deep-learning methods at a glance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Two pretrained models — no training, no labels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577840" cy="41148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525780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Cellpose v4 (cpsam)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Backbone: Segment-Anything-style transformer.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Predicts per-pixel flow vectors pointing to cell centres + a cell-probability heatmap.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Pixels that converge under gradient ascent → same nucleus. No watershed needed.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MPS (Apple Metal): ~6 s/image  ·  CPU: ~150 s/image.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Used: diameter=None (auto-scale per image); default flow / cell-prob thresholds; ~5 min for the whole dataset.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212080" cy="41148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572768"/>
            <a:ext cx="48920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StarDist 2D_versatile_he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Predicts per-pixel: probability of being inside a nucleus + 32 ray distances to the boundary (a star-convex polygon).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NMS (IoU 0.30) keeps best non-overlapping polygons.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Pretrained specifically on H&amp;E histopathology nuclei.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Lowered prob_thresh from 0.69 → 0.40 to recover dense lymphocyte clusters (otherwise misses ~50%).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Tiny model (~5 MB)  ·  ~30 s for 50 images on CPU.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Both DL methods used pretrained weights — no fine-tuning needed for this dataset.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10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280160"/>
            <a:ext cx="12191695" cy="42976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146304" cy="39319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26D2C"/>
                </a:solidFill>
                <a:latin typeface="Calibri"/>
              </a:rPr>
              <a:t>PART 2</a:t>
            </a:r>
          </a:p>
          <a:p>
            <a:pPr algn="l"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Results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F5F7FA"/>
                </a:solidFill>
                <a:latin typeface="Calibri"/>
              </a:rPr>
              <a:t>What we found — qualitatively and quantitatively.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11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Qualitative result — classical pipeline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One row per cohort.  Original  |  H channel  |  Instances  |  Overlay.</a:t>
            </a:r>
          </a:p>
        </p:txBody>
      </p:sp>
      <p:pic>
        <p:nvPicPr>
          <p:cNvPr id="8" name="Picture 7" descr="01_qualitative_grid_class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64240" cy="126448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555C66"/>
                </a:solidFill>
                <a:latin typeface="Calibri"/>
              </a:rPr>
              <a:t>Yellow contours mark detected nucleus boundaries. Hematoxylin channel cleanly isolates nuclei from pink stroma.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12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Cross-method qualitative comparison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Same image, three methods. Boundaries from each overlaid.</a:t>
            </a:r>
          </a:p>
        </p:txBody>
      </p:sp>
      <p:pic>
        <p:nvPicPr>
          <p:cNvPr id="8" name="Picture 7" descr="06_method_qualitativ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64240" cy="118545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555C66"/>
                </a:solidFill>
                <a:latin typeface="Calibri"/>
              </a:rPr>
              <a:t>Differences are concentrated in dense lymphocyte clusters — where the methods’ shape priors disagree the most.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13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Total nuclei detected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Per method, broken down by cohort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1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BRC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CRC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HCC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NSCLC_AD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NSCLC_SCC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Classical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24,250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5,704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5,391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3,562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4,602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4,991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Cellpose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24,097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5,790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5,499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3,278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4,118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5,412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StarDist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20,783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5,309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4,601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2,775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3,662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4,436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3657600"/>
            <a:ext cx="3611880" cy="24688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767328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Classical ≈ Cellpose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24,250 vs 24,097 (&lt;1% difference).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Strong cross-method validation — two completely different approaches agree.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657600"/>
            <a:ext cx="3611880" cy="24688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3767328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StarDist more conservative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20,783 total (−14% vs classical).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Star-convex polygon prior misses non-convex / overlapping nuclei.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657600"/>
            <a:ext cx="3611880" cy="24688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767328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Cohort ranking preserved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BRC/CRC densest, HCC sparsest.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All three methods agree on this ordering — strong evidence the differences are biological, not algorithmic.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14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Per-image count agreement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Each point is one of the 50 images.</a:t>
            </a:r>
          </a:p>
        </p:txBody>
      </p:sp>
      <p:pic>
        <p:nvPicPr>
          <p:cNvPr id="8" name="Picture 7" descr="05_method_coun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7315200" cy="33250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38160" y="1371600"/>
            <a:ext cx="3566160" cy="47548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481328"/>
            <a:ext cx="324612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How to read this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X-axis: classical count for an image.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Y-axis: DL method count for that same image.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Diagonal y=x means perfect agreement.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Classical and Cellpose cluster tightly around y=x.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StarDist sits slightly below (more conservative).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All methods preserve the same per-image ranking.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15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Mask agreement — mean foreground-IoU per cohort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Each instance map collapsed to ‘any nucleus pixel’; pairwise IoU averaged.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0" y="1463040"/>
          <a:ext cx="7589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Cohort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classical vs cellpose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classical vs stardist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cellpose vs stardist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BRC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0.21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0.29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0.36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CRC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0.39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HCC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0.29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NSCLC_AD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0.36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NSCLC_SCC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0.29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681728"/>
            <a:ext cx="10744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Why this matters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IoU values are lower post-normalisation — expected: normalisation removed many false detections, so methods now disagree more on which pixels are nuclear.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Cellpose–StarDist agreement is consistently highest (both DL methods share a refined notion of 'nucleus').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CRC shows strongest agreement (0.44); HCC classical-vs-cellpose lowest (0.13) — large hepatocytes are split differently by watershed vs flow fields.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16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Nucleus density per cohort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Counts normalised by image area — comparable across image sizes.</a:t>
            </a:r>
          </a:p>
        </p:txBody>
      </p:sp>
      <p:pic>
        <p:nvPicPr>
          <p:cNvPr id="8" name="Picture 7" descr="04_density_by_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7315200" cy="418011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38160" y="1371600"/>
            <a:ext cx="3566160" cy="47548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481328"/>
            <a:ext cx="324612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Reading the bars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Density = nuclei per megapixel of tissue.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BRC/CRC densest (~2,000/Mpx classical); HCC sparsest (~1,279/Mpx).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Differences are biology — not parameter sensitivity.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All three methods reproduce the same ranking.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17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Count and area distributions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How variable are nuclei within each cohort?</a:t>
            </a:r>
          </a:p>
        </p:txBody>
      </p:sp>
      <p:pic>
        <p:nvPicPr>
          <p:cNvPr id="8" name="Picture 7" descr="02_count_by_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669280" cy="3239589"/>
          </a:xfrm>
          <a:prstGeom prst="rect">
            <a:avLst/>
          </a:prstGeom>
        </p:spPr>
      </p:pic>
      <p:pic>
        <p:nvPicPr>
          <p:cNvPr id="9" name="Picture 8" descr="03_area_by_coh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669280" cy="32395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What we learn: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B33"/>
                </a:solidFill>
                <a:latin typeface="Calibri"/>
              </a:rPr>
              <a:t>BRC and CRC have the widest count spreads — heterogeneous tissue. NSCLC_SCC has the tightest area distribution (std ≈ 9 px²) — uniformly small squamous nuclei.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22B33"/>
                </a:solidFill>
                <a:latin typeface="Calibri"/>
              </a:rPr>
              <a:t>CRC has the largest mean area — pulled up by columnar epithelial nuclei lining gland crypts.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18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FP / FN analysis (cross-method consensus)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Green = agreed  |  Red = only this method (FP-like)  |  Blue = missed (FN-like)</a:t>
            </a:r>
          </a:p>
        </p:txBody>
      </p:sp>
      <p:pic>
        <p:nvPicPr>
          <p:cNvPr id="8" name="Picture 7" descr="08_fpfn_count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7315200" cy="2650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0" y="1371600"/>
            <a:ext cx="4023360" cy="2286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6992" y="1481328"/>
            <a:ext cx="37033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Consensus = pixel is nucleus in ≥2 of 3 methods.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FP-like: method says YES, consensus says NO.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FN-like: method says NO, consensus says YES.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Not ground truth — best available proxy.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840480"/>
            <a:ext cx="4023360" cy="24688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3950208"/>
            <a:ext cx="3703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26D2C"/>
                </a:solidFill>
                <a:latin typeface="Calibri"/>
              </a:rPr>
              <a:t>Verdict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StarDist: highest TP-like (60.9%) — best balance.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Cellpose: most FP-like (33.6%) — high recall, more unique detections.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Classical: most FN-like (26.2%) — misses dim lymphocytes.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Recommendation: Cellpose for recall, StarDist for precision.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19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Biological interpretation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Do our numbers make sense to a pathologist?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64592" cy="96012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107899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HCC  ·  Lowest density (~1,279/Mpx)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Hepatocytes are large cells with abundant pink cytoplasm — fewer nuclei per unit area, exactly as expected.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164592" cy="960120"/>
          </a:xfrm>
          <a:prstGeom prst="rect">
            <a:avLst/>
          </a:prstGeom>
          <a:solidFill>
            <a:srgbClr val="1B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107899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B6E8F"/>
                </a:solidFill>
                <a:latin typeface="Calibri"/>
              </a:rPr>
              <a:t>NSCLC_SCC  ·  Smallest, most uniform nuclei (mean ≈ 80 px²)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Dense monomorphic squamous nests — small, tightly-packed cells with similar nucleus size.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164592" cy="9601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657600"/>
            <a:ext cx="107899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E26D2C"/>
                </a:solidFill>
                <a:latin typeface="Calibri"/>
              </a:rPr>
              <a:t>BRC / CRC  ·  Highest density and largest variance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Heterogeneous architecture (glands + stroma + lymphocytic infiltrate). Variance reflects which mix dominates each crop.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54880"/>
            <a:ext cx="164592" cy="96012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107899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All cohorts  ·  Mean solidity ≈ 0.93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Segmented instances are convex and well-formed — they look like real nuclei, not jagged fragments.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20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280160"/>
            <a:ext cx="12191695" cy="42976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146304" cy="39319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26D2C"/>
                </a:solidFill>
                <a:latin typeface="Calibri"/>
              </a:rPr>
              <a:t>PART 3</a:t>
            </a:r>
          </a:p>
          <a:p>
            <a:pPr algn="l"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Discussion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F5F7FA"/>
                </a:solidFill>
                <a:latin typeface="Calibri"/>
              </a:rPr>
              <a:t>What we cannot yet conclude — and how to fix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21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Limitations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What we cannot conclude from this work, and why.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64592" cy="82296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No ground truth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We report intrinsic morphometrics and cross-method agreement, not precision/recall. Manual annotation on a held-out subset would close this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164592" cy="82296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Watershed over-segmentation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The classical pipeline can split very large nuclei (e.g. some hepatocytes in HCC). Cellpose and StarDist suffer less.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164592" cy="82296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8328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StarDist conservatism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Polygon prior misses some non-convex / overlapping nuclei even at the lowered prob_thresh = 0.40.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43400"/>
            <a:ext cx="164592" cy="82296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Macenko normalisation degraded results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Normalisation washed out tissue or over-darkened images, destroying real nuclei. Un-normalised results are used throughout; normalised data preserved in results_norm/.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303520"/>
            <a:ext cx="164592" cy="82296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035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Single global parameter set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Chosen for fairness across cohorts, not maximum per-cohort accuracy. Per-cohort tuning would bump numbers but break generalisation.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22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Next steps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How we would extend this work in production.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64592" cy="713232"/>
          </a:xfrm>
          <a:prstGeom prst="rect">
            <a:avLst/>
          </a:prstGeom>
          <a:solidFill>
            <a:srgbClr val="1B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Manual annotation of ~5 crops/cohort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Unlocks real F1 / panoptic-quality metrics for each method.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04288"/>
            <a:ext cx="164592" cy="713232"/>
          </a:xfrm>
          <a:prstGeom prst="rect">
            <a:avLst/>
          </a:prstGeom>
          <a:solidFill>
            <a:srgbClr val="1B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Reinhard normalisation comparison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Compare Reinhard vs Macenko impact; ensemble the two preprocessing approaches.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45536"/>
            <a:ext cx="164592" cy="713232"/>
          </a:xfrm>
          <a:prstGeom prst="rect">
            <a:avLst/>
          </a:prstGeom>
          <a:solidFill>
            <a:srgbClr val="1B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45536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HoVer-Net for cell-type classification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Joint segmentation + nucleus type (epithelial / lymphocyte / stromal). Enables tumour-microenvironment analyses.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86784"/>
            <a:ext cx="164592" cy="713232"/>
          </a:xfrm>
          <a:prstGeom prst="rect">
            <a:avLst/>
          </a:prstGeom>
          <a:solidFill>
            <a:srgbClr val="1B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86784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Method ensemble (consensus mask)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Combine all three methods (union + NMS) into a single best segmentation, likely more accurate than any individual method.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28032"/>
            <a:ext cx="164592" cy="713232"/>
          </a:xfrm>
          <a:prstGeom prst="rect">
            <a:avLst/>
          </a:prstGeom>
          <a:solidFill>
            <a:srgbClr val="1B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28032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Hungarian-matched per-instance IoU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Replace foreground-only IoU with proper per-nucleus correspondence.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669280"/>
            <a:ext cx="164592" cy="713232"/>
          </a:xfrm>
          <a:prstGeom prst="rect">
            <a:avLst/>
          </a:prstGeom>
          <a:solidFill>
            <a:srgbClr val="1B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B3D5C"/>
                </a:solidFill>
                <a:latin typeface="Calibri"/>
              </a:rPr>
              <a:t>Whole-slide tile-based scaling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Move from 480×560 ROIs to gigapixel WSIs with a tiling/stitching layer.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Nucleus Detection &amp; Quantification | Syngene/BBRC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55C66"/>
                </a:solidFill>
                <a:latin typeface="Calibri"/>
              </a:rPr>
              <a:t>23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Deliverables &amp; runtime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55C66"/>
                </a:solidFill>
                <a:latin typeface="Calibri"/>
              </a:rPr>
              <a:t>What this repository contains, and how long it takes to reproduce.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7407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Contents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code/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4 modules + 4 driver scripts (single-command pipeline)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results/&lt;method&gt;/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50 overlays + 50 masks + per_image_stats.csv per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results/per_cohort_summary.csv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3 methods × 5 cohorts aggregated table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results/method_agreement.csv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Pairwise foreground-IoU per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results/figures/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Nine figures (this deck embeds them all)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report/report.html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Styled HTML report with embedded figures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report/report.md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Plain-text Markdown version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presentation/slides.pptx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This deck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study/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13 markdown deep-dives for self-study &amp; reviewer Q&amp;A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run.sh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B33"/>
                          </a:solidFill>
                          <a:latin typeface="Calibri"/>
                        </a:rPr>
                        <a:t>One-command reproducer (./run.sh 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End-to-end runtime on MacBook Pro (Apple Silicon, no NVIDIA GPU): ~6 minutes.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64008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0"/>
            <a:ext cx="2133295" cy="4754880"/>
          </a:xfrm>
          <a:prstGeom prst="rect">
            <a:avLst/>
          </a:prstGeom>
          <a:solidFill>
            <a:srgbClr val="1B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F5F7FA"/>
                </a:solidFill>
                <a:latin typeface="Calibri"/>
              </a:rPr>
              <a:t>Questions, comments, or extensions are very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Mona Kumari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7FA"/>
                </a:solidFill>
                <a:latin typeface="Calibri"/>
              </a:rPr>
              <a:t>Syngene / BBRC Digital Pathology Assessment  ·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